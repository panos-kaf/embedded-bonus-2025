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Dumondi Condensed" charset="1" panose="00000000000000000000"/>
      <p:regular r:id="rId25"/>
    </p:embeddedFont>
    <p:embeddedFont>
      <p:font typeface="Dumondi Condensed Bold" charset="1" panose="00000000000000000000"/>
      <p:regular r:id="rId26"/>
    </p:embeddedFont>
    <p:embeddedFont>
      <p:font typeface="Open Sauce" charset="1" panose="00000500000000000000"/>
      <p:regular r:id="rId27"/>
    </p:embeddedFont>
    <p:embeddedFont>
      <p:font typeface="Bubblebody Neue Ultra-Bold" charset="1" panose="000005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22.png" Type="http://schemas.openxmlformats.org/officeDocument/2006/relationships/image"/><Relationship Id="rId8" Target="../media/image23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622483" y="-4752564"/>
            <a:ext cx="9273633" cy="9223050"/>
          </a:xfrm>
          <a:custGeom>
            <a:avLst/>
            <a:gdLst/>
            <a:ahLst/>
            <a:cxnLst/>
            <a:rect r="r" b="b" t="t" l="l"/>
            <a:pathLst>
              <a:path h="9223050" w="9273633">
                <a:moveTo>
                  <a:pt x="9273634" y="9223050"/>
                </a:moveTo>
                <a:lnTo>
                  <a:pt x="0" y="9223050"/>
                </a:lnTo>
                <a:lnTo>
                  <a:pt x="0" y="0"/>
                </a:lnTo>
                <a:lnTo>
                  <a:pt x="9273634" y="0"/>
                </a:lnTo>
                <a:lnTo>
                  <a:pt x="9273634" y="922305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70866" y="7871752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857877" y="-6292233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215567" y="8393133"/>
            <a:ext cx="16230600" cy="4260532"/>
          </a:xfrm>
          <a:custGeom>
            <a:avLst/>
            <a:gdLst/>
            <a:ahLst/>
            <a:cxnLst/>
            <a:rect r="r" b="b" t="t" l="l"/>
            <a:pathLst>
              <a:path h="4260532" w="16230600">
                <a:moveTo>
                  <a:pt x="0" y="0"/>
                </a:moveTo>
                <a:lnTo>
                  <a:pt x="16230600" y="0"/>
                </a:lnTo>
                <a:lnTo>
                  <a:pt x="16230600" y="4260533"/>
                </a:lnTo>
                <a:lnTo>
                  <a:pt x="0" y="42605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857877" y="-1944145"/>
            <a:ext cx="16230600" cy="4260532"/>
          </a:xfrm>
          <a:custGeom>
            <a:avLst/>
            <a:gdLst/>
            <a:ahLst/>
            <a:cxnLst/>
            <a:rect r="r" b="b" t="t" l="l"/>
            <a:pathLst>
              <a:path h="4260532" w="16230600">
                <a:moveTo>
                  <a:pt x="0" y="0"/>
                </a:moveTo>
                <a:lnTo>
                  <a:pt x="16230600" y="0"/>
                </a:lnTo>
                <a:lnTo>
                  <a:pt x="16230600" y="4260532"/>
                </a:lnTo>
                <a:lnTo>
                  <a:pt x="0" y="42605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408348" y="6901250"/>
            <a:ext cx="8922520" cy="138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9"/>
              </a:lnSpc>
            </a:pPr>
            <a:r>
              <a:rPr lang="en-US" sz="533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Panagiotis Katsalifis</a:t>
            </a:r>
          </a:p>
          <a:p>
            <a:pPr algn="ctr">
              <a:lnSpc>
                <a:spcPts val="5339"/>
              </a:lnSpc>
            </a:pPr>
            <a:r>
              <a:rPr lang="en-US" sz="533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Alexandra Chelidoni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914689" y="8042141"/>
            <a:ext cx="9273633" cy="9223050"/>
          </a:xfrm>
          <a:custGeom>
            <a:avLst/>
            <a:gdLst/>
            <a:ahLst/>
            <a:cxnLst/>
            <a:rect r="r" b="b" t="t" l="l"/>
            <a:pathLst>
              <a:path h="9223050" w="9273633">
                <a:moveTo>
                  <a:pt x="0" y="0"/>
                </a:moveTo>
                <a:lnTo>
                  <a:pt x="9273633" y="0"/>
                </a:lnTo>
                <a:lnTo>
                  <a:pt x="9273633" y="9223049"/>
                </a:lnTo>
                <a:lnTo>
                  <a:pt x="0" y="92230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722128" y="2592612"/>
            <a:ext cx="10512363" cy="3345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98"/>
              </a:lnSpc>
            </a:pPr>
            <a:r>
              <a:rPr lang="en-US" b="true" sz="9554">
                <a:solidFill>
                  <a:srgbClr val="FF5705"/>
                </a:solidFill>
                <a:latin typeface="Dumondi Condensed Bold"/>
                <a:ea typeface="Dumondi Condensed Bold"/>
                <a:cs typeface="Dumondi Condensed Bold"/>
                <a:sym typeface="Dumondi Condensed Bold"/>
              </a:rPr>
              <a:t>STRATEGIC DYNAMIC MEMORY MANAGEMENT USING HEAP LAYERS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622483" y="-4752564"/>
            <a:ext cx="9273633" cy="9223050"/>
          </a:xfrm>
          <a:custGeom>
            <a:avLst/>
            <a:gdLst/>
            <a:ahLst/>
            <a:cxnLst/>
            <a:rect r="r" b="b" t="t" l="l"/>
            <a:pathLst>
              <a:path h="9223050" w="9273633">
                <a:moveTo>
                  <a:pt x="9273634" y="9223050"/>
                </a:moveTo>
                <a:lnTo>
                  <a:pt x="0" y="9223050"/>
                </a:lnTo>
                <a:lnTo>
                  <a:pt x="0" y="0"/>
                </a:lnTo>
                <a:lnTo>
                  <a:pt x="9273634" y="0"/>
                </a:lnTo>
                <a:lnTo>
                  <a:pt x="9273634" y="922305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70866" y="7871752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857877" y="-6292233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215567" y="8393133"/>
            <a:ext cx="16230600" cy="4260532"/>
          </a:xfrm>
          <a:custGeom>
            <a:avLst/>
            <a:gdLst/>
            <a:ahLst/>
            <a:cxnLst/>
            <a:rect r="r" b="b" t="t" l="l"/>
            <a:pathLst>
              <a:path h="4260532" w="16230600">
                <a:moveTo>
                  <a:pt x="0" y="0"/>
                </a:moveTo>
                <a:lnTo>
                  <a:pt x="16230600" y="0"/>
                </a:lnTo>
                <a:lnTo>
                  <a:pt x="16230600" y="4260533"/>
                </a:lnTo>
                <a:lnTo>
                  <a:pt x="0" y="42605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857877" y="-1944145"/>
            <a:ext cx="16230600" cy="4260532"/>
          </a:xfrm>
          <a:custGeom>
            <a:avLst/>
            <a:gdLst/>
            <a:ahLst/>
            <a:cxnLst/>
            <a:rect r="r" b="b" t="t" l="l"/>
            <a:pathLst>
              <a:path h="4260532" w="16230600">
                <a:moveTo>
                  <a:pt x="0" y="0"/>
                </a:moveTo>
                <a:lnTo>
                  <a:pt x="16230600" y="0"/>
                </a:lnTo>
                <a:lnTo>
                  <a:pt x="16230600" y="4260532"/>
                </a:lnTo>
                <a:lnTo>
                  <a:pt x="0" y="42605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637484" y="816255"/>
            <a:ext cx="12744676" cy="2259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94"/>
              </a:lnSpc>
            </a:pPr>
            <a:r>
              <a:rPr lang="en-US" sz="954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ALLOCATOR DESIGN:</a:t>
            </a:r>
          </a:p>
          <a:p>
            <a:pPr algn="ctr">
              <a:lnSpc>
                <a:spcPts val="8594"/>
              </a:lnSpc>
            </a:pPr>
            <a:r>
              <a:rPr lang="en-US" sz="954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FROM SPECIALIZED TO GENERAL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47954" y="3409373"/>
            <a:ext cx="14988362" cy="6220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57901" indent="-528951" lvl="1">
              <a:lnSpc>
                <a:spcPts val="4899"/>
              </a:lnSpc>
              <a:buFont typeface="Arial"/>
              <a:buChar char="•"/>
            </a:pPr>
            <a:r>
              <a:rPr lang="en-US" sz="4899" u="sng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Leveraging Patterns</a:t>
            </a:r>
            <a:r>
              <a:rPr lang="en-US" sz="489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: Using application-specific allocation patterns allows for specialized memory managers that significantly boost performance.</a:t>
            </a:r>
          </a:p>
          <a:p>
            <a:pPr algn="l">
              <a:lnSpc>
                <a:spcPts val="4899"/>
              </a:lnSpc>
            </a:pPr>
          </a:p>
          <a:p>
            <a:pPr algn="l" marL="1057901" indent="-528951" lvl="1">
              <a:lnSpc>
                <a:spcPts val="4899"/>
              </a:lnSpc>
              <a:buFont typeface="Arial"/>
              <a:buChar char="•"/>
            </a:pPr>
            <a:r>
              <a:rPr lang="en-US" sz="4899" u="sng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Library Strategy</a:t>
            </a:r>
            <a:r>
              <a:rPr lang="en-US" sz="489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: Effective specialized allocators should be generalized and organized into a reusable library for broader use.</a:t>
            </a:r>
          </a:p>
          <a:p>
            <a:pPr algn="l">
              <a:lnSpc>
                <a:spcPts val="4899"/>
              </a:lnSpc>
            </a:pPr>
          </a:p>
          <a:p>
            <a:pPr algn="l" marL="1057901" indent="-528951" lvl="1">
              <a:lnSpc>
                <a:spcPts val="4899"/>
              </a:lnSpc>
              <a:buFont typeface="Arial"/>
              <a:buChar char="•"/>
            </a:pPr>
            <a:r>
              <a:rPr lang="en-US" sz="4899" u="sng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The "Full Circle" Design</a:t>
            </a:r>
            <a:r>
              <a:rPr lang="en-US" sz="489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: A robust general-purpose allocator is best defined as a smart combination of these highly optimized, special-purpose components.</a:t>
            </a:r>
          </a:p>
          <a:p>
            <a:pPr algn="ctr">
              <a:lnSpc>
                <a:spcPts val="4899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1108502" y="8623580"/>
            <a:ext cx="9273633" cy="9223050"/>
          </a:xfrm>
          <a:custGeom>
            <a:avLst/>
            <a:gdLst/>
            <a:ahLst/>
            <a:cxnLst/>
            <a:rect r="r" b="b" t="t" l="l"/>
            <a:pathLst>
              <a:path h="9223050" w="9273633">
                <a:moveTo>
                  <a:pt x="0" y="0"/>
                </a:moveTo>
                <a:lnTo>
                  <a:pt x="9273633" y="0"/>
                </a:lnTo>
                <a:lnTo>
                  <a:pt x="9273633" y="9223050"/>
                </a:lnTo>
                <a:lnTo>
                  <a:pt x="0" y="9223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622483" y="-4752564"/>
            <a:ext cx="9273633" cy="9223050"/>
          </a:xfrm>
          <a:custGeom>
            <a:avLst/>
            <a:gdLst/>
            <a:ahLst/>
            <a:cxnLst/>
            <a:rect r="r" b="b" t="t" l="l"/>
            <a:pathLst>
              <a:path h="9223050" w="9273633">
                <a:moveTo>
                  <a:pt x="9273634" y="9223050"/>
                </a:moveTo>
                <a:lnTo>
                  <a:pt x="0" y="9223050"/>
                </a:lnTo>
                <a:lnTo>
                  <a:pt x="0" y="0"/>
                </a:lnTo>
                <a:lnTo>
                  <a:pt x="9273634" y="0"/>
                </a:lnTo>
                <a:lnTo>
                  <a:pt x="9273634" y="922305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70866" y="7871752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857877" y="-6292233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215567" y="8393133"/>
            <a:ext cx="16230600" cy="4260532"/>
          </a:xfrm>
          <a:custGeom>
            <a:avLst/>
            <a:gdLst/>
            <a:ahLst/>
            <a:cxnLst/>
            <a:rect r="r" b="b" t="t" l="l"/>
            <a:pathLst>
              <a:path h="4260532" w="16230600">
                <a:moveTo>
                  <a:pt x="0" y="0"/>
                </a:moveTo>
                <a:lnTo>
                  <a:pt x="16230600" y="0"/>
                </a:lnTo>
                <a:lnTo>
                  <a:pt x="16230600" y="4260533"/>
                </a:lnTo>
                <a:lnTo>
                  <a:pt x="0" y="42605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857877" y="-1944145"/>
            <a:ext cx="16230600" cy="4260532"/>
          </a:xfrm>
          <a:custGeom>
            <a:avLst/>
            <a:gdLst/>
            <a:ahLst/>
            <a:cxnLst/>
            <a:rect r="r" b="b" t="t" l="l"/>
            <a:pathLst>
              <a:path h="4260532" w="16230600">
                <a:moveTo>
                  <a:pt x="0" y="0"/>
                </a:moveTo>
                <a:lnTo>
                  <a:pt x="16230600" y="0"/>
                </a:lnTo>
                <a:lnTo>
                  <a:pt x="16230600" y="4260532"/>
                </a:lnTo>
                <a:lnTo>
                  <a:pt x="0" y="42605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730556" y="1488740"/>
            <a:ext cx="10532142" cy="1173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94"/>
              </a:lnSpc>
            </a:pPr>
            <a:r>
              <a:rPr lang="en-US" sz="954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HEAP LAYERS LIBRARY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98187" y="3824579"/>
            <a:ext cx="14803067" cy="4982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57909" indent="-528955" lvl="1">
              <a:lnSpc>
                <a:spcPts val="4899"/>
              </a:lnSpc>
              <a:buFont typeface="Arial"/>
              <a:buChar char="•"/>
            </a:pPr>
            <a:r>
              <a:rPr lang="en-US" sz="4899" u="sng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Modular Architecture</a:t>
            </a:r>
            <a:r>
              <a:rPr lang="en-US" sz="489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: It provides a flexible C++ framework that allows you to build high-performance allocators by stacking different functional "layers".</a:t>
            </a:r>
          </a:p>
          <a:p>
            <a:pPr algn="l">
              <a:lnSpc>
                <a:spcPts val="4899"/>
              </a:lnSpc>
            </a:pPr>
          </a:p>
          <a:p>
            <a:pPr algn="l" marL="1057909" indent="-528955" lvl="1">
              <a:lnSpc>
                <a:spcPts val="4899"/>
              </a:lnSpc>
              <a:buFont typeface="Arial"/>
              <a:buChar char="•"/>
            </a:pPr>
            <a:r>
              <a:rPr lang="en-US" sz="4899" u="sng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Simplified Development</a:t>
            </a:r>
            <a:r>
              <a:rPr lang="en-US" sz="489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: It streamlines the process of writing complex memory managers, making it easier to create both specialized (custom) and standard (general-purpose) allocators.</a:t>
            </a:r>
          </a:p>
          <a:p>
            <a:pPr algn="l">
              <a:lnSpc>
                <a:spcPts val="4899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1063776" y="8393133"/>
            <a:ext cx="9273633" cy="9223050"/>
          </a:xfrm>
          <a:custGeom>
            <a:avLst/>
            <a:gdLst/>
            <a:ahLst/>
            <a:cxnLst/>
            <a:rect r="r" b="b" t="t" l="l"/>
            <a:pathLst>
              <a:path h="9223050" w="9273633">
                <a:moveTo>
                  <a:pt x="0" y="0"/>
                </a:moveTo>
                <a:lnTo>
                  <a:pt x="9273633" y="0"/>
                </a:lnTo>
                <a:lnTo>
                  <a:pt x="9273633" y="9223050"/>
                </a:lnTo>
                <a:lnTo>
                  <a:pt x="0" y="9223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622483" y="-4752564"/>
            <a:ext cx="9273633" cy="9223050"/>
          </a:xfrm>
          <a:custGeom>
            <a:avLst/>
            <a:gdLst/>
            <a:ahLst/>
            <a:cxnLst/>
            <a:rect r="r" b="b" t="t" l="l"/>
            <a:pathLst>
              <a:path h="9223050" w="9273633">
                <a:moveTo>
                  <a:pt x="9273634" y="9223050"/>
                </a:moveTo>
                <a:lnTo>
                  <a:pt x="0" y="9223050"/>
                </a:lnTo>
                <a:lnTo>
                  <a:pt x="0" y="0"/>
                </a:lnTo>
                <a:lnTo>
                  <a:pt x="9273634" y="0"/>
                </a:lnTo>
                <a:lnTo>
                  <a:pt x="9273634" y="922305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70866" y="7871752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857877" y="-6292233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215567" y="8393133"/>
            <a:ext cx="16230600" cy="4260532"/>
          </a:xfrm>
          <a:custGeom>
            <a:avLst/>
            <a:gdLst/>
            <a:ahLst/>
            <a:cxnLst/>
            <a:rect r="r" b="b" t="t" l="l"/>
            <a:pathLst>
              <a:path h="4260532" w="16230600">
                <a:moveTo>
                  <a:pt x="0" y="0"/>
                </a:moveTo>
                <a:lnTo>
                  <a:pt x="16230600" y="0"/>
                </a:lnTo>
                <a:lnTo>
                  <a:pt x="16230600" y="4260533"/>
                </a:lnTo>
                <a:lnTo>
                  <a:pt x="0" y="42605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857877" y="-1944145"/>
            <a:ext cx="16230600" cy="4260532"/>
          </a:xfrm>
          <a:custGeom>
            <a:avLst/>
            <a:gdLst/>
            <a:ahLst/>
            <a:cxnLst/>
            <a:rect r="r" b="b" t="t" l="l"/>
            <a:pathLst>
              <a:path h="4260532" w="16230600">
                <a:moveTo>
                  <a:pt x="0" y="0"/>
                </a:moveTo>
                <a:lnTo>
                  <a:pt x="16230600" y="0"/>
                </a:lnTo>
                <a:lnTo>
                  <a:pt x="16230600" y="4260532"/>
                </a:lnTo>
                <a:lnTo>
                  <a:pt x="0" y="42605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906261" y="8504310"/>
            <a:ext cx="9273633" cy="9223050"/>
          </a:xfrm>
          <a:custGeom>
            <a:avLst/>
            <a:gdLst/>
            <a:ahLst/>
            <a:cxnLst/>
            <a:rect r="r" b="b" t="t" l="l"/>
            <a:pathLst>
              <a:path h="9223050" w="9273633">
                <a:moveTo>
                  <a:pt x="0" y="0"/>
                </a:moveTo>
                <a:lnTo>
                  <a:pt x="9273633" y="0"/>
                </a:lnTo>
                <a:lnTo>
                  <a:pt x="9273633" y="9223050"/>
                </a:lnTo>
                <a:lnTo>
                  <a:pt x="0" y="9223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730556" y="1488740"/>
            <a:ext cx="10532142" cy="1173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94"/>
              </a:lnSpc>
            </a:pPr>
            <a:r>
              <a:rPr lang="en-US" sz="954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USING HEAP LAYERS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19991" y="4056354"/>
            <a:ext cx="13953271" cy="3815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57909" indent="-528955" lvl="1">
              <a:lnSpc>
                <a:spcPts val="4899"/>
              </a:lnSpc>
              <a:buFont typeface="Arial"/>
              <a:buChar char="•"/>
            </a:pPr>
            <a:r>
              <a:rPr lang="en-US" sz="489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It uses C++ templates to build and parameterize several building blocks.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</a:p>
          <a:p>
            <a:pPr algn="l" marL="1057909" indent="-528955" lvl="1">
              <a:lnSpc>
                <a:spcPts val="4899"/>
              </a:lnSpc>
              <a:buFont typeface="Arial"/>
              <a:buChar char="•"/>
            </a:pPr>
            <a:r>
              <a:rPr lang="en-US" sz="489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Combines building blocks to construct different allocation policies.</a:t>
            </a:r>
          </a:p>
          <a:p>
            <a:pPr algn="l">
              <a:lnSpc>
                <a:spcPts val="489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622483" y="-4752564"/>
            <a:ext cx="9273633" cy="9223050"/>
          </a:xfrm>
          <a:custGeom>
            <a:avLst/>
            <a:gdLst/>
            <a:ahLst/>
            <a:cxnLst/>
            <a:rect r="r" b="b" t="t" l="l"/>
            <a:pathLst>
              <a:path h="9223050" w="9273633">
                <a:moveTo>
                  <a:pt x="9273634" y="9223050"/>
                </a:moveTo>
                <a:lnTo>
                  <a:pt x="0" y="9223050"/>
                </a:lnTo>
                <a:lnTo>
                  <a:pt x="0" y="0"/>
                </a:lnTo>
                <a:lnTo>
                  <a:pt x="9273634" y="0"/>
                </a:lnTo>
                <a:lnTo>
                  <a:pt x="9273634" y="922305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70866" y="7871752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857877" y="-6292233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215567" y="8393133"/>
            <a:ext cx="16230600" cy="4260532"/>
          </a:xfrm>
          <a:custGeom>
            <a:avLst/>
            <a:gdLst/>
            <a:ahLst/>
            <a:cxnLst/>
            <a:rect r="r" b="b" t="t" l="l"/>
            <a:pathLst>
              <a:path h="4260532" w="16230600">
                <a:moveTo>
                  <a:pt x="0" y="0"/>
                </a:moveTo>
                <a:lnTo>
                  <a:pt x="16230600" y="0"/>
                </a:lnTo>
                <a:lnTo>
                  <a:pt x="16230600" y="4260533"/>
                </a:lnTo>
                <a:lnTo>
                  <a:pt x="0" y="42605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857877" y="-1944145"/>
            <a:ext cx="16230600" cy="4260532"/>
          </a:xfrm>
          <a:custGeom>
            <a:avLst/>
            <a:gdLst/>
            <a:ahLst/>
            <a:cxnLst/>
            <a:rect r="r" b="b" t="t" l="l"/>
            <a:pathLst>
              <a:path h="4260532" w="16230600">
                <a:moveTo>
                  <a:pt x="0" y="0"/>
                </a:moveTo>
                <a:lnTo>
                  <a:pt x="16230600" y="0"/>
                </a:lnTo>
                <a:lnTo>
                  <a:pt x="16230600" y="4260532"/>
                </a:lnTo>
                <a:lnTo>
                  <a:pt x="0" y="42605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914689" y="8042141"/>
            <a:ext cx="9273633" cy="9223050"/>
          </a:xfrm>
          <a:custGeom>
            <a:avLst/>
            <a:gdLst/>
            <a:ahLst/>
            <a:cxnLst/>
            <a:rect r="r" b="b" t="t" l="l"/>
            <a:pathLst>
              <a:path h="9223050" w="9273633">
                <a:moveTo>
                  <a:pt x="0" y="0"/>
                </a:moveTo>
                <a:lnTo>
                  <a:pt x="9273633" y="0"/>
                </a:lnTo>
                <a:lnTo>
                  <a:pt x="9273633" y="9223049"/>
                </a:lnTo>
                <a:lnTo>
                  <a:pt x="0" y="92230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38648" y="3046350"/>
            <a:ext cx="8394804" cy="3763188"/>
          </a:xfrm>
          <a:custGeom>
            <a:avLst/>
            <a:gdLst/>
            <a:ahLst/>
            <a:cxnLst/>
            <a:rect r="r" b="b" t="t" l="l"/>
            <a:pathLst>
              <a:path h="3763188" w="8394804">
                <a:moveTo>
                  <a:pt x="0" y="0"/>
                </a:moveTo>
                <a:lnTo>
                  <a:pt x="8394804" y="0"/>
                </a:lnTo>
                <a:lnTo>
                  <a:pt x="8394804" y="3763188"/>
                </a:lnTo>
                <a:lnTo>
                  <a:pt x="0" y="37631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870415" y="7134214"/>
            <a:ext cx="13704562" cy="1815854"/>
          </a:xfrm>
          <a:custGeom>
            <a:avLst/>
            <a:gdLst/>
            <a:ahLst/>
            <a:cxnLst/>
            <a:rect r="r" b="b" t="t" l="l"/>
            <a:pathLst>
              <a:path h="1815854" w="13704562">
                <a:moveTo>
                  <a:pt x="0" y="0"/>
                </a:moveTo>
                <a:lnTo>
                  <a:pt x="13704562" y="0"/>
                </a:lnTo>
                <a:lnTo>
                  <a:pt x="13704562" y="1815854"/>
                </a:lnTo>
                <a:lnTo>
                  <a:pt x="0" y="18158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722128" y="462346"/>
            <a:ext cx="10329467" cy="2259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94"/>
              </a:lnSpc>
            </a:pPr>
            <a:r>
              <a:rPr lang="en-US" sz="954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EXAMPLE: </a:t>
            </a:r>
          </a:p>
          <a:p>
            <a:pPr algn="ctr">
              <a:lnSpc>
                <a:spcPts val="8594"/>
              </a:lnSpc>
            </a:pPr>
            <a:r>
              <a:rPr lang="en-US" sz="954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KINGSLEY ALLOCATOR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861023" y="-5140190"/>
            <a:ext cx="9273633" cy="9223050"/>
          </a:xfrm>
          <a:custGeom>
            <a:avLst/>
            <a:gdLst/>
            <a:ahLst/>
            <a:cxnLst/>
            <a:rect r="r" b="b" t="t" l="l"/>
            <a:pathLst>
              <a:path h="9223050" w="9273633">
                <a:moveTo>
                  <a:pt x="9273633" y="9223050"/>
                </a:moveTo>
                <a:lnTo>
                  <a:pt x="0" y="9223050"/>
                </a:lnTo>
                <a:lnTo>
                  <a:pt x="0" y="0"/>
                </a:lnTo>
                <a:lnTo>
                  <a:pt x="9273633" y="0"/>
                </a:lnTo>
                <a:lnTo>
                  <a:pt x="9273633" y="922305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70866" y="7871752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857877" y="-6292233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215567" y="8393133"/>
            <a:ext cx="16230600" cy="4260532"/>
          </a:xfrm>
          <a:custGeom>
            <a:avLst/>
            <a:gdLst/>
            <a:ahLst/>
            <a:cxnLst/>
            <a:rect r="r" b="b" t="t" l="l"/>
            <a:pathLst>
              <a:path h="4260532" w="16230600">
                <a:moveTo>
                  <a:pt x="0" y="0"/>
                </a:moveTo>
                <a:lnTo>
                  <a:pt x="16230600" y="0"/>
                </a:lnTo>
                <a:lnTo>
                  <a:pt x="16230600" y="4260533"/>
                </a:lnTo>
                <a:lnTo>
                  <a:pt x="0" y="42605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857877" y="-1944145"/>
            <a:ext cx="16230600" cy="4260532"/>
          </a:xfrm>
          <a:custGeom>
            <a:avLst/>
            <a:gdLst/>
            <a:ahLst/>
            <a:cxnLst/>
            <a:rect r="r" b="b" t="t" l="l"/>
            <a:pathLst>
              <a:path h="4260532" w="16230600">
                <a:moveTo>
                  <a:pt x="0" y="0"/>
                </a:moveTo>
                <a:lnTo>
                  <a:pt x="16230600" y="0"/>
                </a:lnTo>
                <a:lnTo>
                  <a:pt x="16230600" y="4260532"/>
                </a:lnTo>
                <a:lnTo>
                  <a:pt x="0" y="42605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663885" y="8483209"/>
            <a:ext cx="9273633" cy="9223050"/>
          </a:xfrm>
          <a:custGeom>
            <a:avLst/>
            <a:gdLst/>
            <a:ahLst/>
            <a:cxnLst/>
            <a:rect r="r" b="b" t="t" l="l"/>
            <a:pathLst>
              <a:path h="9223050" w="9273633">
                <a:moveTo>
                  <a:pt x="0" y="0"/>
                </a:moveTo>
                <a:lnTo>
                  <a:pt x="9273633" y="0"/>
                </a:lnTo>
                <a:lnTo>
                  <a:pt x="9273633" y="9223049"/>
                </a:lnTo>
                <a:lnTo>
                  <a:pt x="0" y="92230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3006732" y="5197841"/>
            <a:ext cx="1945070" cy="1237551"/>
          </a:xfrm>
          <a:custGeom>
            <a:avLst/>
            <a:gdLst/>
            <a:ahLst/>
            <a:cxnLst/>
            <a:rect r="r" b="b" t="t" l="l"/>
            <a:pathLst>
              <a:path h="1237551" w="1945070">
                <a:moveTo>
                  <a:pt x="0" y="0"/>
                </a:moveTo>
                <a:lnTo>
                  <a:pt x="1945070" y="0"/>
                </a:lnTo>
                <a:lnTo>
                  <a:pt x="1945070" y="1237551"/>
                </a:lnTo>
                <a:lnTo>
                  <a:pt x="0" y="123755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979267" y="1488740"/>
            <a:ext cx="10329467" cy="1173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94"/>
              </a:lnSpc>
            </a:pPr>
            <a:r>
              <a:rPr lang="en-US" sz="954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LAYER CATEGORIES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555897" y="3501000"/>
            <a:ext cx="13080049" cy="4982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57901" indent="-528951" lvl="1">
              <a:lnSpc>
                <a:spcPts val="4899"/>
              </a:lnSpc>
              <a:buFont typeface="Arial"/>
              <a:buChar char="•"/>
            </a:pPr>
            <a:r>
              <a:rPr lang="en-US" sz="4899" u="sng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Top Heap</a:t>
            </a:r>
          </a:p>
          <a:p>
            <a:pPr algn="l">
              <a:lnSpc>
                <a:spcPts val="4899"/>
              </a:lnSpc>
            </a:pPr>
          </a:p>
          <a:p>
            <a:pPr algn="l" marL="1057901" indent="-528951" lvl="1">
              <a:lnSpc>
                <a:spcPts val="4899"/>
              </a:lnSpc>
              <a:buFont typeface="Arial"/>
              <a:buChar char="•"/>
            </a:pPr>
            <a:r>
              <a:rPr lang="en-US" sz="4899" u="sng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Building Block Layer</a:t>
            </a:r>
          </a:p>
          <a:p>
            <a:pPr algn="l">
              <a:lnSpc>
                <a:spcPts val="4899"/>
              </a:lnSpc>
            </a:pPr>
          </a:p>
          <a:p>
            <a:pPr algn="l" marL="1057901" indent="-528951" lvl="1">
              <a:lnSpc>
                <a:spcPts val="4899"/>
              </a:lnSpc>
              <a:buFont typeface="Arial"/>
              <a:buChar char="•"/>
            </a:pPr>
            <a:r>
              <a:rPr lang="en-US" sz="4899" u="sng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Composition Layer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4899" u="sng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Adapter Layer-Miscellaneous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65349" y="3379255"/>
            <a:ext cx="2827836" cy="103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3999">
                <a:solidFill>
                  <a:srgbClr val="FF5705"/>
                </a:solidFill>
                <a:latin typeface="Open Sauce"/>
                <a:ea typeface="Open Sauce"/>
                <a:cs typeface="Open Sauce"/>
                <a:sym typeface="Open Sauce"/>
              </a:rPr>
              <a:t>memory flow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622483" y="-4752564"/>
            <a:ext cx="9273633" cy="9223050"/>
          </a:xfrm>
          <a:custGeom>
            <a:avLst/>
            <a:gdLst/>
            <a:ahLst/>
            <a:cxnLst/>
            <a:rect r="r" b="b" t="t" l="l"/>
            <a:pathLst>
              <a:path h="9223050" w="9273633">
                <a:moveTo>
                  <a:pt x="9273634" y="9223050"/>
                </a:moveTo>
                <a:lnTo>
                  <a:pt x="0" y="9223050"/>
                </a:lnTo>
                <a:lnTo>
                  <a:pt x="0" y="0"/>
                </a:lnTo>
                <a:lnTo>
                  <a:pt x="9273634" y="0"/>
                </a:lnTo>
                <a:lnTo>
                  <a:pt x="9273634" y="922305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70866" y="7871752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857877" y="-6292233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215567" y="8393133"/>
            <a:ext cx="16230600" cy="4260532"/>
          </a:xfrm>
          <a:custGeom>
            <a:avLst/>
            <a:gdLst/>
            <a:ahLst/>
            <a:cxnLst/>
            <a:rect r="r" b="b" t="t" l="l"/>
            <a:pathLst>
              <a:path h="4260532" w="16230600">
                <a:moveTo>
                  <a:pt x="0" y="0"/>
                </a:moveTo>
                <a:lnTo>
                  <a:pt x="16230600" y="0"/>
                </a:lnTo>
                <a:lnTo>
                  <a:pt x="16230600" y="4260533"/>
                </a:lnTo>
                <a:lnTo>
                  <a:pt x="0" y="42605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857877" y="-1944145"/>
            <a:ext cx="16230600" cy="4260532"/>
          </a:xfrm>
          <a:custGeom>
            <a:avLst/>
            <a:gdLst/>
            <a:ahLst/>
            <a:cxnLst/>
            <a:rect r="r" b="b" t="t" l="l"/>
            <a:pathLst>
              <a:path h="4260532" w="16230600">
                <a:moveTo>
                  <a:pt x="0" y="0"/>
                </a:moveTo>
                <a:lnTo>
                  <a:pt x="16230600" y="0"/>
                </a:lnTo>
                <a:lnTo>
                  <a:pt x="16230600" y="4260532"/>
                </a:lnTo>
                <a:lnTo>
                  <a:pt x="0" y="42605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914689" y="8042141"/>
            <a:ext cx="9273633" cy="9223050"/>
          </a:xfrm>
          <a:custGeom>
            <a:avLst/>
            <a:gdLst/>
            <a:ahLst/>
            <a:cxnLst/>
            <a:rect r="r" b="b" t="t" l="l"/>
            <a:pathLst>
              <a:path h="9223050" w="9273633">
                <a:moveTo>
                  <a:pt x="0" y="0"/>
                </a:moveTo>
                <a:lnTo>
                  <a:pt x="9273633" y="0"/>
                </a:lnTo>
                <a:lnTo>
                  <a:pt x="9273633" y="9223049"/>
                </a:lnTo>
                <a:lnTo>
                  <a:pt x="0" y="92230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025436" y="6688888"/>
            <a:ext cx="6478839" cy="1017824"/>
          </a:xfrm>
          <a:custGeom>
            <a:avLst/>
            <a:gdLst/>
            <a:ahLst/>
            <a:cxnLst/>
            <a:rect r="r" b="b" t="t" l="l"/>
            <a:pathLst>
              <a:path h="1017824" w="6478839">
                <a:moveTo>
                  <a:pt x="0" y="0"/>
                </a:moveTo>
                <a:lnTo>
                  <a:pt x="6478839" y="0"/>
                </a:lnTo>
                <a:lnTo>
                  <a:pt x="6478839" y="1017823"/>
                </a:lnTo>
                <a:lnTo>
                  <a:pt x="0" y="10178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992853" y="3160135"/>
            <a:ext cx="11788016" cy="1267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489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 "Source" heap that has no superheap. It simply fetches large chunks of raw memory.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22128" y="1488740"/>
            <a:ext cx="10329467" cy="1173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94"/>
              </a:lnSpc>
            </a:pPr>
            <a:r>
              <a:rPr lang="en-US" sz="954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TOP HEAP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63579" y="5536142"/>
            <a:ext cx="11788016" cy="1886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57901" indent="-528951" lvl="1">
              <a:lnSpc>
                <a:spcPts val="4899"/>
              </a:lnSpc>
              <a:buFont typeface="Arial"/>
              <a:buChar char="•"/>
            </a:pPr>
            <a:r>
              <a:rPr lang="en-US" sz="489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Mmap (classic syscall as a heap class)</a:t>
            </a:r>
          </a:p>
          <a:p>
            <a:pPr algn="l">
              <a:lnSpc>
                <a:spcPts val="4899"/>
              </a:lnSpc>
            </a:pPr>
          </a:p>
          <a:p>
            <a:pPr algn="l" marL="1057901" indent="-528951" lvl="1">
              <a:lnSpc>
                <a:spcPts val="4899"/>
              </a:lnSpc>
              <a:buFont typeface="Arial"/>
              <a:buChar char="•"/>
            </a:pPr>
            <a:r>
              <a:rPr lang="en-US" sz="489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StaticBufferHeap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622483" y="-4752564"/>
            <a:ext cx="9273633" cy="9223050"/>
          </a:xfrm>
          <a:custGeom>
            <a:avLst/>
            <a:gdLst/>
            <a:ahLst/>
            <a:cxnLst/>
            <a:rect r="r" b="b" t="t" l="l"/>
            <a:pathLst>
              <a:path h="9223050" w="9273633">
                <a:moveTo>
                  <a:pt x="9273634" y="9223050"/>
                </a:moveTo>
                <a:lnTo>
                  <a:pt x="0" y="9223050"/>
                </a:lnTo>
                <a:lnTo>
                  <a:pt x="0" y="0"/>
                </a:lnTo>
                <a:lnTo>
                  <a:pt x="9273634" y="0"/>
                </a:lnTo>
                <a:lnTo>
                  <a:pt x="9273634" y="922305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70866" y="7871752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857877" y="-6292233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215567" y="8393133"/>
            <a:ext cx="16230600" cy="4260532"/>
          </a:xfrm>
          <a:custGeom>
            <a:avLst/>
            <a:gdLst/>
            <a:ahLst/>
            <a:cxnLst/>
            <a:rect r="r" b="b" t="t" l="l"/>
            <a:pathLst>
              <a:path h="4260532" w="16230600">
                <a:moveTo>
                  <a:pt x="0" y="0"/>
                </a:moveTo>
                <a:lnTo>
                  <a:pt x="16230600" y="0"/>
                </a:lnTo>
                <a:lnTo>
                  <a:pt x="16230600" y="4260533"/>
                </a:lnTo>
                <a:lnTo>
                  <a:pt x="0" y="42605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608117" y="-1969789"/>
            <a:ext cx="16230600" cy="4260532"/>
          </a:xfrm>
          <a:custGeom>
            <a:avLst/>
            <a:gdLst/>
            <a:ahLst/>
            <a:cxnLst/>
            <a:rect r="r" b="b" t="t" l="l"/>
            <a:pathLst>
              <a:path h="4260532" w="16230600">
                <a:moveTo>
                  <a:pt x="0" y="0"/>
                </a:moveTo>
                <a:lnTo>
                  <a:pt x="16230600" y="0"/>
                </a:lnTo>
                <a:lnTo>
                  <a:pt x="16230600" y="4260533"/>
                </a:lnTo>
                <a:lnTo>
                  <a:pt x="0" y="42605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914689" y="8042141"/>
            <a:ext cx="9273633" cy="9223050"/>
          </a:xfrm>
          <a:custGeom>
            <a:avLst/>
            <a:gdLst/>
            <a:ahLst/>
            <a:cxnLst/>
            <a:rect r="r" b="b" t="t" l="l"/>
            <a:pathLst>
              <a:path h="9223050" w="9273633">
                <a:moveTo>
                  <a:pt x="0" y="0"/>
                </a:moveTo>
                <a:lnTo>
                  <a:pt x="9273633" y="0"/>
                </a:lnTo>
                <a:lnTo>
                  <a:pt x="9273633" y="9223049"/>
                </a:lnTo>
                <a:lnTo>
                  <a:pt x="0" y="92230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049672" y="6716733"/>
            <a:ext cx="7281195" cy="820214"/>
          </a:xfrm>
          <a:custGeom>
            <a:avLst/>
            <a:gdLst/>
            <a:ahLst/>
            <a:cxnLst/>
            <a:rect r="r" b="b" t="t" l="l"/>
            <a:pathLst>
              <a:path h="820214" w="7281195">
                <a:moveTo>
                  <a:pt x="0" y="0"/>
                </a:moveTo>
                <a:lnTo>
                  <a:pt x="7281195" y="0"/>
                </a:lnTo>
                <a:lnTo>
                  <a:pt x="7281195" y="820213"/>
                </a:lnTo>
                <a:lnTo>
                  <a:pt x="0" y="82021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679020" y="5535701"/>
            <a:ext cx="8267504" cy="806228"/>
          </a:xfrm>
          <a:custGeom>
            <a:avLst/>
            <a:gdLst/>
            <a:ahLst/>
            <a:cxnLst/>
            <a:rect r="r" b="b" t="t" l="l"/>
            <a:pathLst>
              <a:path h="806228" w="8267504">
                <a:moveTo>
                  <a:pt x="0" y="0"/>
                </a:moveTo>
                <a:lnTo>
                  <a:pt x="8267504" y="0"/>
                </a:lnTo>
                <a:lnTo>
                  <a:pt x="8267504" y="806228"/>
                </a:lnTo>
                <a:lnTo>
                  <a:pt x="0" y="8062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722128" y="1488740"/>
            <a:ext cx="10329467" cy="1173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94"/>
              </a:lnSpc>
            </a:pPr>
            <a:r>
              <a:rPr lang="en-US" sz="954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BUILDING BLOCK LAYER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92853" y="2757469"/>
            <a:ext cx="11788016" cy="1267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489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It defines how memory is stored and tracked. It takes memory from a top heap and organizes it.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57966" y="5650362"/>
            <a:ext cx="11788016" cy="1886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57901" indent="-528951" lvl="1">
              <a:lnSpc>
                <a:spcPts val="4899"/>
              </a:lnSpc>
              <a:buFont typeface="Arial"/>
              <a:buChar char="•"/>
            </a:pPr>
            <a:r>
              <a:rPr lang="en-US" sz="489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ZoneHeap (Arena allocator)</a:t>
            </a:r>
          </a:p>
          <a:p>
            <a:pPr algn="l">
              <a:lnSpc>
                <a:spcPts val="4899"/>
              </a:lnSpc>
            </a:pPr>
          </a:p>
          <a:p>
            <a:pPr algn="l" marL="1057901" indent="-528951" lvl="1">
              <a:lnSpc>
                <a:spcPts val="4899"/>
              </a:lnSpc>
              <a:buFont typeface="Arial"/>
              <a:buChar char="•"/>
            </a:pPr>
            <a:r>
              <a:rPr lang="en-US" sz="489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FreelistHeap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622483" y="-4752564"/>
            <a:ext cx="9273633" cy="9223050"/>
          </a:xfrm>
          <a:custGeom>
            <a:avLst/>
            <a:gdLst/>
            <a:ahLst/>
            <a:cxnLst/>
            <a:rect r="r" b="b" t="t" l="l"/>
            <a:pathLst>
              <a:path h="9223050" w="9273633">
                <a:moveTo>
                  <a:pt x="9273634" y="9223050"/>
                </a:moveTo>
                <a:lnTo>
                  <a:pt x="0" y="9223050"/>
                </a:lnTo>
                <a:lnTo>
                  <a:pt x="0" y="0"/>
                </a:lnTo>
                <a:lnTo>
                  <a:pt x="9273634" y="0"/>
                </a:lnTo>
                <a:lnTo>
                  <a:pt x="9273634" y="922305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70866" y="7871752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857877" y="-6292233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215567" y="8393133"/>
            <a:ext cx="16230600" cy="4260532"/>
          </a:xfrm>
          <a:custGeom>
            <a:avLst/>
            <a:gdLst/>
            <a:ahLst/>
            <a:cxnLst/>
            <a:rect r="r" b="b" t="t" l="l"/>
            <a:pathLst>
              <a:path h="4260532" w="16230600">
                <a:moveTo>
                  <a:pt x="0" y="0"/>
                </a:moveTo>
                <a:lnTo>
                  <a:pt x="16230600" y="0"/>
                </a:lnTo>
                <a:lnTo>
                  <a:pt x="16230600" y="4260533"/>
                </a:lnTo>
                <a:lnTo>
                  <a:pt x="0" y="42605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857877" y="-1944145"/>
            <a:ext cx="16230600" cy="4260532"/>
          </a:xfrm>
          <a:custGeom>
            <a:avLst/>
            <a:gdLst/>
            <a:ahLst/>
            <a:cxnLst/>
            <a:rect r="r" b="b" t="t" l="l"/>
            <a:pathLst>
              <a:path h="4260532" w="16230600">
                <a:moveTo>
                  <a:pt x="0" y="0"/>
                </a:moveTo>
                <a:lnTo>
                  <a:pt x="16230600" y="0"/>
                </a:lnTo>
                <a:lnTo>
                  <a:pt x="16230600" y="4260532"/>
                </a:lnTo>
                <a:lnTo>
                  <a:pt x="0" y="42605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914689" y="8668306"/>
            <a:ext cx="9273633" cy="9223050"/>
          </a:xfrm>
          <a:custGeom>
            <a:avLst/>
            <a:gdLst/>
            <a:ahLst/>
            <a:cxnLst/>
            <a:rect r="r" b="b" t="t" l="l"/>
            <a:pathLst>
              <a:path h="9223050" w="9273633">
                <a:moveTo>
                  <a:pt x="0" y="0"/>
                </a:moveTo>
                <a:lnTo>
                  <a:pt x="9273633" y="0"/>
                </a:lnTo>
                <a:lnTo>
                  <a:pt x="9273633" y="9223050"/>
                </a:lnTo>
                <a:lnTo>
                  <a:pt x="0" y="9223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690882" y="5440489"/>
            <a:ext cx="10910593" cy="927880"/>
          </a:xfrm>
          <a:custGeom>
            <a:avLst/>
            <a:gdLst/>
            <a:ahLst/>
            <a:cxnLst/>
            <a:rect r="r" b="b" t="t" l="l"/>
            <a:pathLst>
              <a:path h="927880" w="10910593">
                <a:moveTo>
                  <a:pt x="0" y="0"/>
                </a:moveTo>
                <a:lnTo>
                  <a:pt x="10910593" y="0"/>
                </a:lnTo>
                <a:lnTo>
                  <a:pt x="10910593" y="927880"/>
                </a:lnTo>
                <a:lnTo>
                  <a:pt x="0" y="9278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582105" y="7254669"/>
            <a:ext cx="7788761" cy="2276928"/>
          </a:xfrm>
          <a:custGeom>
            <a:avLst/>
            <a:gdLst/>
            <a:ahLst/>
            <a:cxnLst/>
            <a:rect r="r" b="b" t="t" l="l"/>
            <a:pathLst>
              <a:path h="2276928" w="7788761">
                <a:moveTo>
                  <a:pt x="0" y="0"/>
                </a:moveTo>
                <a:lnTo>
                  <a:pt x="7788761" y="0"/>
                </a:lnTo>
                <a:lnTo>
                  <a:pt x="7788761" y="2276928"/>
                </a:lnTo>
                <a:lnTo>
                  <a:pt x="0" y="22769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771734" y="2982405"/>
            <a:ext cx="12230253" cy="1886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489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It doesn’t store memory itself; it decides which child heap should handle a request. Its role is t</a:t>
            </a:r>
            <a:r>
              <a:rPr lang="en-US" sz="489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o combine multiple heaps into a smarter system.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22128" y="1488740"/>
            <a:ext cx="10329467" cy="1173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94"/>
              </a:lnSpc>
            </a:pPr>
            <a:r>
              <a:rPr lang="en-US" sz="954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COMPOSITION LAYER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57966" y="5650362"/>
            <a:ext cx="11788016" cy="3124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57901" indent="-528951" lvl="1">
              <a:lnSpc>
                <a:spcPts val="4899"/>
              </a:lnSpc>
              <a:buFont typeface="Arial"/>
              <a:buChar char="•"/>
            </a:pPr>
            <a:r>
              <a:rPr lang="en-US" sz="489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Hybrid Heap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</a:p>
          <a:p>
            <a:pPr algn="l" marL="1057901" indent="-528951" lvl="1">
              <a:lnSpc>
                <a:spcPts val="4899"/>
              </a:lnSpc>
              <a:buFont typeface="Arial"/>
              <a:buChar char="•"/>
            </a:pPr>
            <a:r>
              <a:rPr lang="en-US" sz="489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Segregated Heap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622483" y="-4752564"/>
            <a:ext cx="9273633" cy="9223050"/>
          </a:xfrm>
          <a:custGeom>
            <a:avLst/>
            <a:gdLst/>
            <a:ahLst/>
            <a:cxnLst/>
            <a:rect r="r" b="b" t="t" l="l"/>
            <a:pathLst>
              <a:path h="9223050" w="9273633">
                <a:moveTo>
                  <a:pt x="9273634" y="9223050"/>
                </a:moveTo>
                <a:lnTo>
                  <a:pt x="0" y="9223050"/>
                </a:lnTo>
                <a:lnTo>
                  <a:pt x="0" y="0"/>
                </a:lnTo>
                <a:lnTo>
                  <a:pt x="9273634" y="0"/>
                </a:lnTo>
                <a:lnTo>
                  <a:pt x="9273634" y="922305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70866" y="7871752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857877" y="-6292233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215567" y="8393133"/>
            <a:ext cx="16230600" cy="4260532"/>
          </a:xfrm>
          <a:custGeom>
            <a:avLst/>
            <a:gdLst/>
            <a:ahLst/>
            <a:cxnLst/>
            <a:rect r="r" b="b" t="t" l="l"/>
            <a:pathLst>
              <a:path h="4260532" w="16230600">
                <a:moveTo>
                  <a:pt x="0" y="0"/>
                </a:moveTo>
                <a:lnTo>
                  <a:pt x="16230600" y="0"/>
                </a:lnTo>
                <a:lnTo>
                  <a:pt x="16230600" y="4260533"/>
                </a:lnTo>
                <a:lnTo>
                  <a:pt x="0" y="42605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857877" y="-1944145"/>
            <a:ext cx="16230600" cy="4260532"/>
          </a:xfrm>
          <a:custGeom>
            <a:avLst/>
            <a:gdLst/>
            <a:ahLst/>
            <a:cxnLst/>
            <a:rect r="r" b="b" t="t" l="l"/>
            <a:pathLst>
              <a:path h="4260532" w="16230600">
                <a:moveTo>
                  <a:pt x="0" y="0"/>
                </a:moveTo>
                <a:lnTo>
                  <a:pt x="16230600" y="0"/>
                </a:lnTo>
                <a:lnTo>
                  <a:pt x="16230600" y="4260532"/>
                </a:lnTo>
                <a:lnTo>
                  <a:pt x="0" y="42605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107384" y="8727941"/>
            <a:ext cx="9273633" cy="9223050"/>
          </a:xfrm>
          <a:custGeom>
            <a:avLst/>
            <a:gdLst/>
            <a:ahLst/>
            <a:cxnLst/>
            <a:rect r="r" b="b" t="t" l="l"/>
            <a:pathLst>
              <a:path h="9223050" w="9273633">
                <a:moveTo>
                  <a:pt x="0" y="0"/>
                </a:moveTo>
                <a:lnTo>
                  <a:pt x="9273633" y="0"/>
                </a:lnTo>
                <a:lnTo>
                  <a:pt x="9273633" y="9223049"/>
                </a:lnTo>
                <a:lnTo>
                  <a:pt x="0" y="92230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371723" y="3499804"/>
            <a:ext cx="10496022" cy="1267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489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They can actually fit anywhere between the basic layer categories. Each one serves a different purpose.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22128" y="945815"/>
            <a:ext cx="10329467" cy="2259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94"/>
              </a:lnSpc>
            </a:pPr>
            <a:r>
              <a:rPr lang="en-US" sz="954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ADAPTER LAYER- MISCELLANEOUS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46139" y="5342329"/>
            <a:ext cx="14995721" cy="3743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57901" indent="-528951" lvl="1">
              <a:lnSpc>
                <a:spcPts val="4899"/>
              </a:lnSpc>
              <a:buFont typeface="Arial"/>
              <a:buChar char="•"/>
            </a:pPr>
            <a:r>
              <a:rPr lang="en-US" sz="489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SizeHeap (metadata to keep track of the heap size)</a:t>
            </a:r>
          </a:p>
          <a:p>
            <a:pPr algn="l">
              <a:lnSpc>
                <a:spcPts val="4899"/>
              </a:lnSpc>
            </a:pPr>
          </a:p>
          <a:p>
            <a:pPr algn="l" marL="1057901" indent="-528951" lvl="1">
              <a:lnSpc>
                <a:spcPts val="4899"/>
              </a:lnSpc>
              <a:buFont typeface="Arial"/>
              <a:buChar char="•"/>
            </a:pPr>
            <a:r>
              <a:rPr lang="en-US" sz="489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LockedHeap &amp; ThreadSpecificHeap (adds thread-safety)</a:t>
            </a:r>
          </a:p>
          <a:p>
            <a:pPr algn="l">
              <a:lnSpc>
                <a:spcPts val="4899"/>
              </a:lnSpc>
            </a:pPr>
          </a:p>
          <a:p>
            <a:pPr algn="l" marL="1057901" indent="-528951" lvl="1">
              <a:lnSpc>
                <a:spcPts val="4899"/>
              </a:lnSpc>
              <a:buFont typeface="Arial"/>
              <a:buChar char="•"/>
            </a:pPr>
            <a:r>
              <a:rPr lang="en-US" sz="489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ANSI Wrapper (generates the standard C interface for the custom heap)</a:t>
            </a:r>
          </a:p>
          <a:p>
            <a:pPr algn="l">
              <a:lnSpc>
                <a:spcPts val="489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622483" y="-4752564"/>
            <a:ext cx="9273633" cy="9223050"/>
          </a:xfrm>
          <a:custGeom>
            <a:avLst/>
            <a:gdLst/>
            <a:ahLst/>
            <a:cxnLst/>
            <a:rect r="r" b="b" t="t" l="l"/>
            <a:pathLst>
              <a:path h="9223050" w="9273633">
                <a:moveTo>
                  <a:pt x="9273634" y="9223050"/>
                </a:moveTo>
                <a:lnTo>
                  <a:pt x="0" y="9223050"/>
                </a:lnTo>
                <a:lnTo>
                  <a:pt x="0" y="0"/>
                </a:lnTo>
                <a:lnTo>
                  <a:pt x="9273634" y="0"/>
                </a:lnTo>
                <a:lnTo>
                  <a:pt x="9273634" y="922305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70866" y="7871752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857877" y="-6292233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215567" y="8393133"/>
            <a:ext cx="16230600" cy="4260532"/>
          </a:xfrm>
          <a:custGeom>
            <a:avLst/>
            <a:gdLst/>
            <a:ahLst/>
            <a:cxnLst/>
            <a:rect r="r" b="b" t="t" l="l"/>
            <a:pathLst>
              <a:path h="4260532" w="16230600">
                <a:moveTo>
                  <a:pt x="0" y="0"/>
                </a:moveTo>
                <a:lnTo>
                  <a:pt x="16230600" y="0"/>
                </a:lnTo>
                <a:lnTo>
                  <a:pt x="16230600" y="4260533"/>
                </a:lnTo>
                <a:lnTo>
                  <a:pt x="0" y="42605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857877" y="-1944145"/>
            <a:ext cx="16230600" cy="4260532"/>
          </a:xfrm>
          <a:custGeom>
            <a:avLst/>
            <a:gdLst/>
            <a:ahLst/>
            <a:cxnLst/>
            <a:rect r="r" b="b" t="t" l="l"/>
            <a:pathLst>
              <a:path h="4260532" w="16230600">
                <a:moveTo>
                  <a:pt x="0" y="0"/>
                </a:moveTo>
                <a:lnTo>
                  <a:pt x="16230600" y="0"/>
                </a:lnTo>
                <a:lnTo>
                  <a:pt x="16230600" y="4260532"/>
                </a:lnTo>
                <a:lnTo>
                  <a:pt x="0" y="42605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021328" y="1479984"/>
            <a:ext cx="12245344" cy="1181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58"/>
              </a:lnSpc>
            </a:pPr>
            <a:r>
              <a:rPr lang="en-US" sz="950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EXPERIMENTATION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914689" y="8042141"/>
            <a:ext cx="9273633" cy="9223050"/>
          </a:xfrm>
          <a:custGeom>
            <a:avLst/>
            <a:gdLst/>
            <a:ahLst/>
            <a:cxnLst/>
            <a:rect r="r" b="b" t="t" l="l"/>
            <a:pathLst>
              <a:path h="9223050" w="9273633">
                <a:moveTo>
                  <a:pt x="0" y="0"/>
                </a:moveTo>
                <a:lnTo>
                  <a:pt x="9273633" y="0"/>
                </a:lnTo>
                <a:lnTo>
                  <a:pt x="9273633" y="9223049"/>
                </a:lnTo>
                <a:lnTo>
                  <a:pt x="0" y="92230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46139" y="3410924"/>
            <a:ext cx="14995721" cy="4982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57901" indent="-528951" lvl="1">
              <a:lnSpc>
                <a:spcPts val="4899"/>
              </a:lnSpc>
              <a:buFont typeface="Arial"/>
              <a:buChar char="•"/>
            </a:pPr>
            <a:r>
              <a:rPr lang="en-US" sz="489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Design Space Exploration based on the Kingsley Allocator</a:t>
            </a:r>
          </a:p>
          <a:p>
            <a:pPr algn="l">
              <a:lnSpc>
                <a:spcPts val="4899"/>
              </a:lnSpc>
            </a:pPr>
          </a:p>
          <a:p>
            <a:pPr algn="l" marL="1057901" indent="-528951" lvl="1">
              <a:lnSpc>
                <a:spcPts val="4899"/>
              </a:lnSpc>
              <a:buFont typeface="Arial"/>
              <a:buChar char="•"/>
            </a:pPr>
            <a:r>
              <a:rPr lang="en-US" sz="489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Creation of some simplified custom allocators</a:t>
            </a:r>
          </a:p>
          <a:p>
            <a:pPr algn="l">
              <a:lnSpc>
                <a:spcPts val="4899"/>
              </a:lnSpc>
            </a:pPr>
          </a:p>
          <a:p>
            <a:pPr algn="l" marL="1057901" indent="-528951" lvl="1">
              <a:lnSpc>
                <a:spcPts val="4899"/>
              </a:lnSpc>
              <a:buFont typeface="Arial"/>
              <a:buChar char="•"/>
            </a:pPr>
            <a:r>
              <a:rPr lang="en-US" sz="489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Run benchmarks and compare with sysmalloc and mimalloc</a:t>
            </a:r>
          </a:p>
          <a:p>
            <a:pPr algn="l">
              <a:lnSpc>
                <a:spcPts val="4899"/>
              </a:lnSpc>
            </a:pPr>
          </a:p>
          <a:p>
            <a:pPr algn="l" marL="1057901" indent="-528951" lvl="1">
              <a:lnSpc>
                <a:spcPts val="4899"/>
              </a:lnSpc>
              <a:buFont typeface="Arial"/>
              <a:buChar char="•"/>
            </a:pPr>
            <a:r>
              <a:rPr lang="en-US" sz="489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Evaluate results based on memory footprint and execution time</a:t>
            </a:r>
          </a:p>
          <a:p>
            <a:pPr algn="l">
              <a:lnSpc>
                <a:spcPts val="489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622483" y="-4752564"/>
            <a:ext cx="9273633" cy="9223050"/>
          </a:xfrm>
          <a:custGeom>
            <a:avLst/>
            <a:gdLst/>
            <a:ahLst/>
            <a:cxnLst/>
            <a:rect r="r" b="b" t="t" l="l"/>
            <a:pathLst>
              <a:path h="9223050" w="9273633">
                <a:moveTo>
                  <a:pt x="9273634" y="9223050"/>
                </a:moveTo>
                <a:lnTo>
                  <a:pt x="0" y="9223050"/>
                </a:lnTo>
                <a:lnTo>
                  <a:pt x="0" y="0"/>
                </a:lnTo>
                <a:lnTo>
                  <a:pt x="9273634" y="0"/>
                </a:lnTo>
                <a:lnTo>
                  <a:pt x="9273634" y="922305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70866" y="7871752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857877" y="-6292233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215567" y="8393133"/>
            <a:ext cx="16230600" cy="4260532"/>
          </a:xfrm>
          <a:custGeom>
            <a:avLst/>
            <a:gdLst/>
            <a:ahLst/>
            <a:cxnLst/>
            <a:rect r="r" b="b" t="t" l="l"/>
            <a:pathLst>
              <a:path h="4260532" w="16230600">
                <a:moveTo>
                  <a:pt x="0" y="0"/>
                </a:moveTo>
                <a:lnTo>
                  <a:pt x="16230600" y="0"/>
                </a:lnTo>
                <a:lnTo>
                  <a:pt x="16230600" y="4260533"/>
                </a:lnTo>
                <a:lnTo>
                  <a:pt x="0" y="42605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857877" y="-1944145"/>
            <a:ext cx="16230600" cy="4260532"/>
          </a:xfrm>
          <a:custGeom>
            <a:avLst/>
            <a:gdLst/>
            <a:ahLst/>
            <a:cxnLst/>
            <a:rect r="r" b="b" t="t" l="l"/>
            <a:pathLst>
              <a:path h="4260532" w="16230600">
                <a:moveTo>
                  <a:pt x="0" y="0"/>
                </a:moveTo>
                <a:lnTo>
                  <a:pt x="16230600" y="0"/>
                </a:lnTo>
                <a:lnTo>
                  <a:pt x="16230600" y="4260532"/>
                </a:lnTo>
                <a:lnTo>
                  <a:pt x="0" y="42605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914689" y="8042141"/>
            <a:ext cx="9273633" cy="9223050"/>
          </a:xfrm>
          <a:custGeom>
            <a:avLst/>
            <a:gdLst/>
            <a:ahLst/>
            <a:cxnLst/>
            <a:rect r="r" b="b" t="t" l="l"/>
            <a:pathLst>
              <a:path h="9223050" w="9273633">
                <a:moveTo>
                  <a:pt x="0" y="0"/>
                </a:moveTo>
                <a:lnTo>
                  <a:pt x="9273633" y="0"/>
                </a:lnTo>
                <a:lnTo>
                  <a:pt x="9273633" y="9223049"/>
                </a:lnTo>
                <a:lnTo>
                  <a:pt x="0" y="92230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46139" y="3664472"/>
            <a:ext cx="14995721" cy="5601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57901" indent="-528951" lvl="1">
              <a:lnSpc>
                <a:spcPts val="4899"/>
              </a:lnSpc>
              <a:buFont typeface="Arial"/>
              <a:buChar char="•"/>
            </a:pPr>
            <a:r>
              <a:rPr lang="en-US" sz="489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We tried tweaking some parameters of the Kingsley allocator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  <a:r>
              <a:rPr lang="en-US" sz="489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            Negligible changes between different versions</a:t>
            </a:r>
          </a:p>
          <a:p>
            <a:pPr algn="l">
              <a:lnSpc>
                <a:spcPts val="4899"/>
              </a:lnSpc>
            </a:pPr>
          </a:p>
          <a:p>
            <a:pPr algn="l" marL="1057901" indent="-528951" lvl="1">
              <a:lnSpc>
                <a:spcPts val="4899"/>
              </a:lnSpc>
              <a:buFont typeface="Arial"/>
              <a:buChar char="•"/>
            </a:pPr>
            <a:r>
              <a:rPr lang="en-US" sz="489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Made the Kingsley allocator thread safe</a:t>
            </a:r>
          </a:p>
          <a:p>
            <a:pPr algn="l">
              <a:lnSpc>
                <a:spcPts val="4899"/>
              </a:lnSpc>
            </a:pPr>
            <a:r>
              <a:rPr lang="en-US" sz="489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            </a:t>
            </a:r>
          </a:p>
          <a:p>
            <a:pPr algn="l">
              <a:lnSpc>
                <a:spcPts val="4899"/>
              </a:lnSpc>
            </a:pPr>
            <a:r>
              <a:rPr lang="en-US" sz="489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             we used a global lock, which slowed down execution time by a lot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201497" y="6699471"/>
            <a:ext cx="934547" cy="1304570"/>
          </a:xfrm>
          <a:custGeom>
            <a:avLst/>
            <a:gdLst/>
            <a:ahLst/>
            <a:cxnLst/>
            <a:rect r="r" b="b" t="t" l="l"/>
            <a:pathLst>
              <a:path h="1304570" w="934547">
                <a:moveTo>
                  <a:pt x="0" y="0"/>
                </a:moveTo>
                <a:lnTo>
                  <a:pt x="934547" y="0"/>
                </a:lnTo>
                <a:lnTo>
                  <a:pt x="934547" y="1304570"/>
                </a:lnTo>
                <a:lnTo>
                  <a:pt x="0" y="13045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021328" y="972996"/>
            <a:ext cx="12245344" cy="1181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58"/>
              </a:lnSpc>
            </a:pPr>
            <a:r>
              <a:rPr lang="en-US" sz="950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DESIGN SPACE EXPLORATION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2182031" y="4174757"/>
            <a:ext cx="934547" cy="1304570"/>
          </a:xfrm>
          <a:custGeom>
            <a:avLst/>
            <a:gdLst/>
            <a:ahLst/>
            <a:cxnLst/>
            <a:rect r="r" b="b" t="t" l="l"/>
            <a:pathLst>
              <a:path h="1304570" w="934547">
                <a:moveTo>
                  <a:pt x="0" y="0"/>
                </a:moveTo>
                <a:lnTo>
                  <a:pt x="934547" y="0"/>
                </a:lnTo>
                <a:lnTo>
                  <a:pt x="934547" y="1304570"/>
                </a:lnTo>
                <a:lnTo>
                  <a:pt x="0" y="13045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622483" y="-4752564"/>
            <a:ext cx="9273633" cy="9223050"/>
          </a:xfrm>
          <a:custGeom>
            <a:avLst/>
            <a:gdLst/>
            <a:ahLst/>
            <a:cxnLst/>
            <a:rect r="r" b="b" t="t" l="l"/>
            <a:pathLst>
              <a:path h="9223050" w="9273633">
                <a:moveTo>
                  <a:pt x="9273634" y="9223050"/>
                </a:moveTo>
                <a:lnTo>
                  <a:pt x="0" y="9223050"/>
                </a:lnTo>
                <a:lnTo>
                  <a:pt x="0" y="0"/>
                </a:lnTo>
                <a:lnTo>
                  <a:pt x="9273634" y="0"/>
                </a:lnTo>
                <a:lnTo>
                  <a:pt x="9273634" y="922305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70866" y="7871752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857877" y="-6292233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215567" y="8393133"/>
            <a:ext cx="16230600" cy="4260532"/>
          </a:xfrm>
          <a:custGeom>
            <a:avLst/>
            <a:gdLst/>
            <a:ahLst/>
            <a:cxnLst/>
            <a:rect r="r" b="b" t="t" l="l"/>
            <a:pathLst>
              <a:path h="4260532" w="16230600">
                <a:moveTo>
                  <a:pt x="0" y="0"/>
                </a:moveTo>
                <a:lnTo>
                  <a:pt x="16230600" y="0"/>
                </a:lnTo>
                <a:lnTo>
                  <a:pt x="16230600" y="4260533"/>
                </a:lnTo>
                <a:lnTo>
                  <a:pt x="0" y="42605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857877" y="-1944145"/>
            <a:ext cx="16230600" cy="4260532"/>
          </a:xfrm>
          <a:custGeom>
            <a:avLst/>
            <a:gdLst/>
            <a:ahLst/>
            <a:cxnLst/>
            <a:rect r="r" b="b" t="t" l="l"/>
            <a:pathLst>
              <a:path h="4260532" w="16230600">
                <a:moveTo>
                  <a:pt x="0" y="0"/>
                </a:moveTo>
                <a:lnTo>
                  <a:pt x="16230600" y="0"/>
                </a:lnTo>
                <a:lnTo>
                  <a:pt x="16230600" y="4260532"/>
                </a:lnTo>
                <a:lnTo>
                  <a:pt x="0" y="42605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914689" y="8042141"/>
            <a:ext cx="9273633" cy="9223050"/>
          </a:xfrm>
          <a:custGeom>
            <a:avLst/>
            <a:gdLst/>
            <a:ahLst/>
            <a:cxnLst/>
            <a:rect r="r" b="b" t="t" l="l"/>
            <a:pathLst>
              <a:path h="9223050" w="9273633">
                <a:moveTo>
                  <a:pt x="0" y="0"/>
                </a:moveTo>
                <a:lnTo>
                  <a:pt x="9273633" y="0"/>
                </a:lnTo>
                <a:lnTo>
                  <a:pt x="9273633" y="9223049"/>
                </a:lnTo>
                <a:lnTo>
                  <a:pt x="0" y="92230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57148" y="1506278"/>
            <a:ext cx="16973705" cy="7274445"/>
          </a:xfrm>
          <a:custGeom>
            <a:avLst/>
            <a:gdLst/>
            <a:ahLst/>
            <a:cxnLst/>
            <a:rect r="r" b="b" t="t" l="l"/>
            <a:pathLst>
              <a:path h="7274445" w="16973705">
                <a:moveTo>
                  <a:pt x="0" y="0"/>
                </a:moveTo>
                <a:lnTo>
                  <a:pt x="16973704" y="0"/>
                </a:lnTo>
                <a:lnTo>
                  <a:pt x="16973704" y="7274444"/>
                </a:lnTo>
                <a:lnTo>
                  <a:pt x="0" y="72744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622483" y="-4752564"/>
            <a:ext cx="9273633" cy="9223050"/>
          </a:xfrm>
          <a:custGeom>
            <a:avLst/>
            <a:gdLst/>
            <a:ahLst/>
            <a:cxnLst/>
            <a:rect r="r" b="b" t="t" l="l"/>
            <a:pathLst>
              <a:path h="9223050" w="9273633">
                <a:moveTo>
                  <a:pt x="9273634" y="9223050"/>
                </a:moveTo>
                <a:lnTo>
                  <a:pt x="0" y="9223050"/>
                </a:lnTo>
                <a:lnTo>
                  <a:pt x="0" y="0"/>
                </a:lnTo>
                <a:lnTo>
                  <a:pt x="9273634" y="0"/>
                </a:lnTo>
                <a:lnTo>
                  <a:pt x="9273634" y="922305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70866" y="7871752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857877" y="-6292233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215567" y="8393133"/>
            <a:ext cx="16230600" cy="4260532"/>
          </a:xfrm>
          <a:custGeom>
            <a:avLst/>
            <a:gdLst/>
            <a:ahLst/>
            <a:cxnLst/>
            <a:rect r="r" b="b" t="t" l="l"/>
            <a:pathLst>
              <a:path h="4260532" w="16230600">
                <a:moveTo>
                  <a:pt x="0" y="0"/>
                </a:moveTo>
                <a:lnTo>
                  <a:pt x="16230600" y="0"/>
                </a:lnTo>
                <a:lnTo>
                  <a:pt x="16230600" y="4260533"/>
                </a:lnTo>
                <a:lnTo>
                  <a:pt x="0" y="42605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857877" y="-1944145"/>
            <a:ext cx="16230600" cy="4260532"/>
          </a:xfrm>
          <a:custGeom>
            <a:avLst/>
            <a:gdLst/>
            <a:ahLst/>
            <a:cxnLst/>
            <a:rect r="r" b="b" t="t" l="l"/>
            <a:pathLst>
              <a:path h="4260532" w="16230600">
                <a:moveTo>
                  <a:pt x="0" y="0"/>
                </a:moveTo>
                <a:lnTo>
                  <a:pt x="16230600" y="0"/>
                </a:lnTo>
                <a:lnTo>
                  <a:pt x="16230600" y="4260532"/>
                </a:lnTo>
                <a:lnTo>
                  <a:pt x="0" y="42605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914689" y="8042141"/>
            <a:ext cx="9273633" cy="9223050"/>
          </a:xfrm>
          <a:custGeom>
            <a:avLst/>
            <a:gdLst/>
            <a:ahLst/>
            <a:cxnLst/>
            <a:rect r="r" b="b" t="t" l="l"/>
            <a:pathLst>
              <a:path h="9223050" w="9273633">
                <a:moveTo>
                  <a:pt x="0" y="0"/>
                </a:moveTo>
                <a:lnTo>
                  <a:pt x="9273633" y="0"/>
                </a:lnTo>
                <a:lnTo>
                  <a:pt x="9273633" y="9223049"/>
                </a:lnTo>
                <a:lnTo>
                  <a:pt x="0" y="92230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55639" y="1505631"/>
            <a:ext cx="16976722" cy="7275738"/>
          </a:xfrm>
          <a:custGeom>
            <a:avLst/>
            <a:gdLst/>
            <a:ahLst/>
            <a:cxnLst/>
            <a:rect r="r" b="b" t="t" l="l"/>
            <a:pathLst>
              <a:path h="7275738" w="16976722">
                <a:moveTo>
                  <a:pt x="0" y="0"/>
                </a:moveTo>
                <a:lnTo>
                  <a:pt x="16976722" y="0"/>
                </a:lnTo>
                <a:lnTo>
                  <a:pt x="16976722" y="7275738"/>
                </a:lnTo>
                <a:lnTo>
                  <a:pt x="0" y="72757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622483" y="-4752564"/>
            <a:ext cx="9273633" cy="9223050"/>
          </a:xfrm>
          <a:custGeom>
            <a:avLst/>
            <a:gdLst/>
            <a:ahLst/>
            <a:cxnLst/>
            <a:rect r="r" b="b" t="t" l="l"/>
            <a:pathLst>
              <a:path h="9223050" w="9273633">
                <a:moveTo>
                  <a:pt x="9273634" y="9223050"/>
                </a:moveTo>
                <a:lnTo>
                  <a:pt x="0" y="9223050"/>
                </a:lnTo>
                <a:lnTo>
                  <a:pt x="0" y="0"/>
                </a:lnTo>
                <a:lnTo>
                  <a:pt x="9273634" y="0"/>
                </a:lnTo>
                <a:lnTo>
                  <a:pt x="9273634" y="922305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70866" y="7871752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857877" y="-6292233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215567" y="8393133"/>
            <a:ext cx="16230600" cy="4260532"/>
          </a:xfrm>
          <a:custGeom>
            <a:avLst/>
            <a:gdLst/>
            <a:ahLst/>
            <a:cxnLst/>
            <a:rect r="r" b="b" t="t" l="l"/>
            <a:pathLst>
              <a:path h="4260532" w="16230600">
                <a:moveTo>
                  <a:pt x="0" y="0"/>
                </a:moveTo>
                <a:lnTo>
                  <a:pt x="16230600" y="0"/>
                </a:lnTo>
                <a:lnTo>
                  <a:pt x="16230600" y="4260533"/>
                </a:lnTo>
                <a:lnTo>
                  <a:pt x="0" y="42605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857877" y="-1944145"/>
            <a:ext cx="16230600" cy="4260532"/>
          </a:xfrm>
          <a:custGeom>
            <a:avLst/>
            <a:gdLst/>
            <a:ahLst/>
            <a:cxnLst/>
            <a:rect r="r" b="b" t="t" l="l"/>
            <a:pathLst>
              <a:path h="4260532" w="16230600">
                <a:moveTo>
                  <a:pt x="0" y="0"/>
                </a:moveTo>
                <a:lnTo>
                  <a:pt x="16230600" y="0"/>
                </a:lnTo>
                <a:lnTo>
                  <a:pt x="16230600" y="4260532"/>
                </a:lnTo>
                <a:lnTo>
                  <a:pt x="0" y="42605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232714" y="1220675"/>
            <a:ext cx="9571756" cy="1095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64"/>
              </a:lnSpc>
            </a:pPr>
            <a:r>
              <a:rPr lang="en-US" sz="884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CUSTOM ALLOCATORS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1573578" y="8271320"/>
            <a:ext cx="9273633" cy="9223050"/>
          </a:xfrm>
          <a:custGeom>
            <a:avLst/>
            <a:gdLst/>
            <a:ahLst/>
            <a:cxnLst/>
            <a:rect r="r" b="b" t="t" l="l"/>
            <a:pathLst>
              <a:path h="9223050" w="9273633">
                <a:moveTo>
                  <a:pt x="0" y="0"/>
                </a:moveTo>
                <a:lnTo>
                  <a:pt x="9273633" y="0"/>
                </a:lnTo>
                <a:lnTo>
                  <a:pt x="9273633" y="9223049"/>
                </a:lnTo>
                <a:lnTo>
                  <a:pt x="0" y="92230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46139" y="3410924"/>
            <a:ext cx="14995721" cy="6220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57901" indent="-528951" lvl="1">
              <a:lnSpc>
                <a:spcPts val="4899"/>
              </a:lnSpc>
              <a:buFont typeface="Arial"/>
              <a:buChar char="•"/>
            </a:pPr>
            <a:r>
              <a:rPr lang="en-US" sz="489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Created a simple MmapArena </a:t>
            </a:r>
          </a:p>
          <a:p>
            <a:pPr algn="l">
              <a:lnSpc>
                <a:spcPts val="4899"/>
              </a:lnSpc>
            </a:pPr>
          </a:p>
          <a:p>
            <a:pPr algn="l" marL="1057901" indent="-528951" lvl="1">
              <a:lnSpc>
                <a:spcPts val="4899"/>
              </a:lnSpc>
              <a:buFont typeface="Arial"/>
              <a:buChar char="•"/>
            </a:pPr>
            <a:r>
              <a:rPr lang="en-US" sz="489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Based on Segregated Policy created </a:t>
            </a:r>
          </a:p>
          <a:p>
            <a:pPr algn="l">
              <a:lnSpc>
                <a:spcPts val="4899"/>
              </a:lnSpc>
            </a:pPr>
            <a:r>
              <a:rPr lang="en-US" sz="489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          </a:t>
            </a:r>
            <a:r>
              <a:rPr lang="en-US" sz="489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1) SegPT-16bins  </a:t>
            </a:r>
          </a:p>
          <a:p>
            <a:pPr algn="l">
              <a:lnSpc>
                <a:spcPts val="4899"/>
              </a:lnSpc>
            </a:pPr>
            <a:r>
              <a:rPr lang="en-US" sz="489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          2) StrictSegPT-16bins </a:t>
            </a:r>
          </a:p>
          <a:p>
            <a:pPr algn="l">
              <a:lnSpc>
                <a:spcPts val="4899"/>
              </a:lnSpc>
            </a:pPr>
            <a:r>
              <a:rPr lang="en-US" sz="489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          3) StrictSegLocked-16bins </a:t>
            </a:r>
          </a:p>
          <a:p>
            <a:pPr algn="l">
              <a:lnSpc>
                <a:spcPts val="4899"/>
              </a:lnSpc>
            </a:pPr>
            <a:r>
              <a:rPr lang="en-US" sz="489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          4) StrictSegPTCustom (using a custom policy for segregation)</a:t>
            </a:r>
          </a:p>
          <a:p>
            <a:pPr algn="l">
              <a:lnSpc>
                <a:spcPts val="4899"/>
              </a:lnSpc>
            </a:pPr>
            <a:r>
              <a:rPr lang="en-US" sz="489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          5) StrictSegLockedCustom</a:t>
            </a:r>
          </a:p>
          <a:p>
            <a:pPr algn="l">
              <a:lnSpc>
                <a:spcPts val="4899"/>
              </a:lnSpc>
            </a:pPr>
          </a:p>
          <a:p>
            <a:pPr algn="l">
              <a:lnSpc>
                <a:spcPts val="4899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622483" y="-4752564"/>
            <a:ext cx="9273633" cy="9223050"/>
          </a:xfrm>
          <a:custGeom>
            <a:avLst/>
            <a:gdLst/>
            <a:ahLst/>
            <a:cxnLst/>
            <a:rect r="r" b="b" t="t" l="l"/>
            <a:pathLst>
              <a:path h="9223050" w="9273633">
                <a:moveTo>
                  <a:pt x="9273634" y="9223050"/>
                </a:moveTo>
                <a:lnTo>
                  <a:pt x="0" y="9223050"/>
                </a:lnTo>
                <a:lnTo>
                  <a:pt x="0" y="0"/>
                </a:lnTo>
                <a:lnTo>
                  <a:pt x="9273634" y="0"/>
                </a:lnTo>
                <a:lnTo>
                  <a:pt x="9273634" y="922305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70866" y="7871752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857877" y="-6292233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215567" y="8393133"/>
            <a:ext cx="16230600" cy="4260532"/>
          </a:xfrm>
          <a:custGeom>
            <a:avLst/>
            <a:gdLst/>
            <a:ahLst/>
            <a:cxnLst/>
            <a:rect r="r" b="b" t="t" l="l"/>
            <a:pathLst>
              <a:path h="4260532" w="16230600">
                <a:moveTo>
                  <a:pt x="0" y="0"/>
                </a:moveTo>
                <a:lnTo>
                  <a:pt x="16230600" y="0"/>
                </a:lnTo>
                <a:lnTo>
                  <a:pt x="16230600" y="4260533"/>
                </a:lnTo>
                <a:lnTo>
                  <a:pt x="0" y="42605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857877" y="-1944145"/>
            <a:ext cx="16230600" cy="4260532"/>
          </a:xfrm>
          <a:custGeom>
            <a:avLst/>
            <a:gdLst/>
            <a:ahLst/>
            <a:cxnLst/>
            <a:rect r="r" b="b" t="t" l="l"/>
            <a:pathLst>
              <a:path h="4260532" w="16230600">
                <a:moveTo>
                  <a:pt x="0" y="0"/>
                </a:moveTo>
                <a:lnTo>
                  <a:pt x="16230600" y="0"/>
                </a:lnTo>
                <a:lnTo>
                  <a:pt x="16230600" y="4260532"/>
                </a:lnTo>
                <a:lnTo>
                  <a:pt x="0" y="42605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914689" y="8042141"/>
            <a:ext cx="9273633" cy="9223050"/>
          </a:xfrm>
          <a:custGeom>
            <a:avLst/>
            <a:gdLst/>
            <a:ahLst/>
            <a:cxnLst/>
            <a:rect r="r" b="b" t="t" l="l"/>
            <a:pathLst>
              <a:path h="9223050" w="9273633">
                <a:moveTo>
                  <a:pt x="0" y="0"/>
                </a:moveTo>
                <a:lnTo>
                  <a:pt x="9273633" y="0"/>
                </a:lnTo>
                <a:lnTo>
                  <a:pt x="9273633" y="9223049"/>
                </a:lnTo>
                <a:lnTo>
                  <a:pt x="0" y="92230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13775" y="1937367"/>
            <a:ext cx="17660451" cy="6659625"/>
          </a:xfrm>
          <a:custGeom>
            <a:avLst/>
            <a:gdLst/>
            <a:ahLst/>
            <a:cxnLst/>
            <a:rect r="r" b="b" t="t" l="l"/>
            <a:pathLst>
              <a:path h="6659625" w="17660451">
                <a:moveTo>
                  <a:pt x="0" y="0"/>
                </a:moveTo>
                <a:lnTo>
                  <a:pt x="17660450" y="0"/>
                </a:lnTo>
                <a:lnTo>
                  <a:pt x="17660450" y="6659625"/>
                </a:lnTo>
                <a:lnTo>
                  <a:pt x="0" y="66596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2464" r="-18704" b="-2464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622483" y="-4752564"/>
            <a:ext cx="9273633" cy="9223050"/>
          </a:xfrm>
          <a:custGeom>
            <a:avLst/>
            <a:gdLst/>
            <a:ahLst/>
            <a:cxnLst/>
            <a:rect r="r" b="b" t="t" l="l"/>
            <a:pathLst>
              <a:path h="9223050" w="9273633">
                <a:moveTo>
                  <a:pt x="9273634" y="9223050"/>
                </a:moveTo>
                <a:lnTo>
                  <a:pt x="0" y="9223050"/>
                </a:lnTo>
                <a:lnTo>
                  <a:pt x="0" y="0"/>
                </a:lnTo>
                <a:lnTo>
                  <a:pt x="9273634" y="0"/>
                </a:lnTo>
                <a:lnTo>
                  <a:pt x="9273634" y="922305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70866" y="7871752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857877" y="-6292233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215567" y="8393133"/>
            <a:ext cx="16230600" cy="4260532"/>
          </a:xfrm>
          <a:custGeom>
            <a:avLst/>
            <a:gdLst/>
            <a:ahLst/>
            <a:cxnLst/>
            <a:rect r="r" b="b" t="t" l="l"/>
            <a:pathLst>
              <a:path h="4260532" w="16230600">
                <a:moveTo>
                  <a:pt x="0" y="0"/>
                </a:moveTo>
                <a:lnTo>
                  <a:pt x="16230600" y="0"/>
                </a:lnTo>
                <a:lnTo>
                  <a:pt x="16230600" y="4260533"/>
                </a:lnTo>
                <a:lnTo>
                  <a:pt x="0" y="42605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857877" y="-1944145"/>
            <a:ext cx="16230600" cy="4260532"/>
          </a:xfrm>
          <a:custGeom>
            <a:avLst/>
            <a:gdLst/>
            <a:ahLst/>
            <a:cxnLst/>
            <a:rect r="r" b="b" t="t" l="l"/>
            <a:pathLst>
              <a:path h="4260532" w="16230600">
                <a:moveTo>
                  <a:pt x="0" y="0"/>
                </a:moveTo>
                <a:lnTo>
                  <a:pt x="16230600" y="0"/>
                </a:lnTo>
                <a:lnTo>
                  <a:pt x="16230600" y="4260532"/>
                </a:lnTo>
                <a:lnTo>
                  <a:pt x="0" y="42605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914689" y="8042141"/>
            <a:ext cx="9273633" cy="9223050"/>
          </a:xfrm>
          <a:custGeom>
            <a:avLst/>
            <a:gdLst/>
            <a:ahLst/>
            <a:cxnLst/>
            <a:rect r="r" b="b" t="t" l="l"/>
            <a:pathLst>
              <a:path h="9223050" w="9273633">
                <a:moveTo>
                  <a:pt x="0" y="0"/>
                </a:moveTo>
                <a:lnTo>
                  <a:pt x="9273633" y="0"/>
                </a:lnTo>
                <a:lnTo>
                  <a:pt x="9273633" y="9223049"/>
                </a:lnTo>
                <a:lnTo>
                  <a:pt x="0" y="92230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32334" y="1850559"/>
            <a:ext cx="17623332" cy="6585882"/>
          </a:xfrm>
          <a:custGeom>
            <a:avLst/>
            <a:gdLst/>
            <a:ahLst/>
            <a:cxnLst/>
            <a:rect r="r" b="b" t="t" l="l"/>
            <a:pathLst>
              <a:path h="6585882" w="17623332">
                <a:moveTo>
                  <a:pt x="0" y="0"/>
                </a:moveTo>
                <a:lnTo>
                  <a:pt x="17623332" y="0"/>
                </a:lnTo>
                <a:lnTo>
                  <a:pt x="17623332" y="6585882"/>
                </a:lnTo>
                <a:lnTo>
                  <a:pt x="0" y="658588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681" t="-2234" r="-17718" b="-3375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801388" y="-4931468"/>
            <a:ext cx="9273633" cy="9223050"/>
          </a:xfrm>
          <a:custGeom>
            <a:avLst/>
            <a:gdLst/>
            <a:ahLst/>
            <a:cxnLst/>
            <a:rect r="r" b="b" t="t" l="l"/>
            <a:pathLst>
              <a:path h="9223050" w="9273633">
                <a:moveTo>
                  <a:pt x="9273633" y="9223049"/>
                </a:moveTo>
                <a:lnTo>
                  <a:pt x="0" y="9223049"/>
                </a:lnTo>
                <a:lnTo>
                  <a:pt x="0" y="0"/>
                </a:lnTo>
                <a:lnTo>
                  <a:pt x="9273633" y="0"/>
                </a:lnTo>
                <a:lnTo>
                  <a:pt x="9273633" y="922304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70866" y="7871752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857877" y="-6292233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215567" y="8393133"/>
            <a:ext cx="16230600" cy="4260532"/>
          </a:xfrm>
          <a:custGeom>
            <a:avLst/>
            <a:gdLst/>
            <a:ahLst/>
            <a:cxnLst/>
            <a:rect r="r" b="b" t="t" l="l"/>
            <a:pathLst>
              <a:path h="4260532" w="16230600">
                <a:moveTo>
                  <a:pt x="0" y="0"/>
                </a:moveTo>
                <a:lnTo>
                  <a:pt x="16230600" y="0"/>
                </a:lnTo>
                <a:lnTo>
                  <a:pt x="16230600" y="4260533"/>
                </a:lnTo>
                <a:lnTo>
                  <a:pt x="0" y="42605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857877" y="-1944145"/>
            <a:ext cx="16230600" cy="4260532"/>
          </a:xfrm>
          <a:custGeom>
            <a:avLst/>
            <a:gdLst/>
            <a:ahLst/>
            <a:cxnLst/>
            <a:rect r="r" b="b" t="t" l="l"/>
            <a:pathLst>
              <a:path h="4260532" w="16230600">
                <a:moveTo>
                  <a:pt x="0" y="0"/>
                </a:moveTo>
                <a:lnTo>
                  <a:pt x="16230600" y="0"/>
                </a:lnTo>
                <a:lnTo>
                  <a:pt x="16230600" y="4260532"/>
                </a:lnTo>
                <a:lnTo>
                  <a:pt x="0" y="42605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197704" y="763885"/>
            <a:ext cx="12908618" cy="1173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95"/>
              </a:lnSpc>
            </a:pPr>
            <a:r>
              <a:rPr lang="en-US" sz="9550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REFERENCES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1379394" y="8586946"/>
            <a:ext cx="9273633" cy="9223050"/>
          </a:xfrm>
          <a:custGeom>
            <a:avLst/>
            <a:gdLst/>
            <a:ahLst/>
            <a:cxnLst/>
            <a:rect r="r" b="b" t="t" l="l"/>
            <a:pathLst>
              <a:path h="9223050" w="9273633">
                <a:moveTo>
                  <a:pt x="0" y="0"/>
                </a:moveTo>
                <a:lnTo>
                  <a:pt x="9273633" y="0"/>
                </a:lnTo>
                <a:lnTo>
                  <a:pt x="9273633" y="9223050"/>
                </a:lnTo>
                <a:lnTo>
                  <a:pt x="0" y="9223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54152" y="2575633"/>
            <a:ext cx="14995721" cy="6839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57901" indent="-528951" lvl="1">
              <a:lnSpc>
                <a:spcPts val="4899"/>
              </a:lnSpc>
              <a:buFont typeface="Arial"/>
              <a:buChar char="•"/>
            </a:pPr>
            <a:r>
              <a:rPr lang="en-US" sz="489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Heap Layers Repository: https://github.com/emeryberger/Heap-Layers</a:t>
            </a:r>
          </a:p>
          <a:p>
            <a:pPr algn="l">
              <a:lnSpc>
                <a:spcPts val="4899"/>
              </a:lnSpc>
            </a:pPr>
          </a:p>
          <a:p>
            <a:pPr algn="l" marL="1057901" indent="-528951" lvl="1">
              <a:lnSpc>
                <a:spcPts val="4899"/>
              </a:lnSpc>
              <a:buFont typeface="Arial"/>
              <a:buChar char="•"/>
            </a:pPr>
            <a:r>
              <a:rPr lang="en-US" sz="489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Mimalloc-Bench Repository: https://github.com/daanx/mimalloc-bench</a:t>
            </a:r>
          </a:p>
          <a:p>
            <a:pPr algn="l">
              <a:lnSpc>
                <a:spcPts val="4899"/>
              </a:lnSpc>
            </a:pPr>
          </a:p>
          <a:p>
            <a:pPr algn="l" marL="1057901" indent="-528951" lvl="1">
              <a:lnSpc>
                <a:spcPts val="4899"/>
              </a:lnSpc>
              <a:buFont typeface="Arial"/>
              <a:buChar char="•"/>
            </a:pPr>
            <a:r>
              <a:rPr lang="en-US" sz="489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[1] A. Alexandrescu and E. D. Berger, "Policy-Based Memory Allocation,"  C++ Report, vol. 12, no. 9, Oct. 2000.</a:t>
            </a:r>
          </a:p>
          <a:p>
            <a:pPr algn="l">
              <a:lnSpc>
                <a:spcPts val="4899"/>
              </a:lnSpc>
            </a:pPr>
          </a:p>
          <a:p>
            <a:pPr algn="l" marL="1057901" indent="-528951" lvl="1">
              <a:lnSpc>
                <a:spcPts val="4899"/>
              </a:lnSpc>
              <a:buFont typeface="Arial"/>
              <a:buChar char="•"/>
            </a:pPr>
            <a:r>
              <a:rPr lang="en-US" sz="4899">
                <a:solidFill>
                  <a:srgbClr val="FF5705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[2] E. D. Berger, B. G. Zorn, and K. S. McKinley, "Composing High-Performance Memory Allocators," in Proc. ACM SIGPLAN 2001 Conf. Program. Lang. Des. Impl. (PLDI), Snowbird, UT, USA, 2001, pp. 114–124.</a:t>
            </a:r>
          </a:p>
          <a:p>
            <a:pPr algn="l">
              <a:lnSpc>
                <a:spcPts val="4899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622483" y="-4752564"/>
            <a:ext cx="9273633" cy="9223050"/>
          </a:xfrm>
          <a:custGeom>
            <a:avLst/>
            <a:gdLst/>
            <a:ahLst/>
            <a:cxnLst/>
            <a:rect r="r" b="b" t="t" l="l"/>
            <a:pathLst>
              <a:path h="9223050" w="9273633">
                <a:moveTo>
                  <a:pt x="9273634" y="9223050"/>
                </a:moveTo>
                <a:lnTo>
                  <a:pt x="0" y="9223050"/>
                </a:lnTo>
                <a:lnTo>
                  <a:pt x="0" y="0"/>
                </a:lnTo>
                <a:lnTo>
                  <a:pt x="9273634" y="0"/>
                </a:lnTo>
                <a:lnTo>
                  <a:pt x="9273634" y="922305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70866" y="7871752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857877" y="-6292233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215567" y="8393133"/>
            <a:ext cx="16230600" cy="4260532"/>
          </a:xfrm>
          <a:custGeom>
            <a:avLst/>
            <a:gdLst/>
            <a:ahLst/>
            <a:cxnLst/>
            <a:rect r="r" b="b" t="t" l="l"/>
            <a:pathLst>
              <a:path h="4260532" w="16230600">
                <a:moveTo>
                  <a:pt x="0" y="0"/>
                </a:moveTo>
                <a:lnTo>
                  <a:pt x="16230600" y="0"/>
                </a:lnTo>
                <a:lnTo>
                  <a:pt x="16230600" y="4260533"/>
                </a:lnTo>
                <a:lnTo>
                  <a:pt x="0" y="42605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857877" y="-1944145"/>
            <a:ext cx="16230600" cy="4260532"/>
          </a:xfrm>
          <a:custGeom>
            <a:avLst/>
            <a:gdLst/>
            <a:ahLst/>
            <a:cxnLst/>
            <a:rect r="r" b="b" t="t" l="l"/>
            <a:pathLst>
              <a:path h="4260532" w="16230600">
                <a:moveTo>
                  <a:pt x="0" y="0"/>
                </a:moveTo>
                <a:lnTo>
                  <a:pt x="16230600" y="0"/>
                </a:lnTo>
                <a:lnTo>
                  <a:pt x="16230600" y="4260532"/>
                </a:lnTo>
                <a:lnTo>
                  <a:pt x="0" y="42605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371723" y="4015575"/>
            <a:ext cx="11847866" cy="1937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89"/>
              </a:lnSpc>
            </a:pPr>
            <a:r>
              <a:rPr lang="en-US" b="true" sz="15099">
                <a:solidFill>
                  <a:srgbClr val="FF5705"/>
                </a:solidFill>
                <a:latin typeface="Bubblebody Neue Ultra-Bold"/>
                <a:ea typeface="Bubblebody Neue Ultra-Bold"/>
                <a:cs typeface="Bubblebody Neue Ultra-Bold"/>
                <a:sym typeface="Bubblebody Neue Ultra-Bold"/>
              </a:rPr>
              <a:t>THANK YOU !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914689" y="8042141"/>
            <a:ext cx="9273633" cy="9223050"/>
          </a:xfrm>
          <a:custGeom>
            <a:avLst/>
            <a:gdLst/>
            <a:ahLst/>
            <a:cxnLst/>
            <a:rect r="r" b="b" t="t" l="l"/>
            <a:pathLst>
              <a:path h="9223050" w="9273633">
                <a:moveTo>
                  <a:pt x="0" y="0"/>
                </a:moveTo>
                <a:lnTo>
                  <a:pt x="9273633" y="0"/>
                </a:lnTo>
                <a:lnTo>
                  <a:pt x="9273633" y="9223049"/>
                </a:lnTo>
                <a:lnTo>
                  <a:pt x="0" y="92230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DAG-ZVugRoQ</dc:identifier>
  <dcterms:modified xsi:type="dcterms:W3CDTF">2011-08-01T06:04:30Z</dcterms:modified>
  <cp:revision>1</cp:revision>
  <dc:title>Strategic dynamic memory management using heap layers</dc:title>
</cp:coreProperties>
</file>